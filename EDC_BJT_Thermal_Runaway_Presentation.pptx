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Collector current by circuit and temperature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25°C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Fixed bias</c:v>
                </c:pt>
                <c:pt idx="1">
                  <c:v>Voltage-divider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9.957</c:v>
                </c:pt>
                <c:pt idx="1">
                  <c:v>6.0033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80°C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Fixed bias</c:v>
                </c:pt>
                <c:pt idx="1">
                  <c:v>Voltage-divider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11.785</c:v>
                </c:pt>
                <c:pt idx="1">
                  <c:v>6.2812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Collector current (mA)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1">
                <a:solidFill>
                  <a:srgbClr val="B8D5E4"/>
                </a:solidFill>
                <a:latin typeface="Aptos"/>
              </a:rPr>
              <a:t>SAINTGITS COLLEGE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78992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Department of Electronics &amp; Communications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789920" cy="9144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BJT THERMAL RUNAWAY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1078992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200" b="1">
                <a:solidFill>
                  <a:srgbClr val="75DACD"/>
                </a:solidFill>
                <a:latin typeface="Aptos"/>
              </a:rPr>
              <a:t>Fixed Bias vs Voltage Divider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0">
                <a:solidFill>
                  <a:srgbClr val="E0E7EE"/>
                </a:solidFill>
                <a:latin typeface="Aptos"/>
              </a:rPr>
              <a:t>EDC Project  |  Academic Year 2025–26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8620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Project Guide: Dr Vinodkumar Jacob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34840"/>
            <a:ext cx="10789920" cy="9144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E6EDF4"/>
                </a:solidFill>
                <a:latin typeface="Aptos"/>
              </a:rPr>
              <a:t>Ajil Reji — 06     •     Geojin Mathew — 31     •     Jeril Liju Philip — 38
Joshua Joseph Varghese — 41     •     Meeval Varghese — 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17920"/>
            <a:ext cx="1078992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000" b="0">
                <a:solidFill>
                  <a:srgbClr val="B4C7D8"/>
                </a:solidFill>
                <a:latin typeface="Aptos"/>
              </a:rPr>
              <a:t>Simulation-based investigation using LTspice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600" b="1">
                <a:solidFill>
                  <a:srgbClr val="142744"/>
                </a:solidFill>
                <a:latin typeface="Aptos"/>
              </a:rPr>
              <a:t>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Why biasing stability matters in transistor circuits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11109960" cy="32004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0">
                <a:solidFill>
                  <a:srgbClr val="5E6C7C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47472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64008" cy="1691640"/>
          </a:xfrm>
          <a:prstGeom prst="rect">
            <a:avLst/>
          </a:prstGeom>
          <a:solidFill>
            <a:srgbClr val="30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312724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BJT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3127248" cy="11430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A bipolar junction transistor controls collector current through base drive. Its operating point depends on bias and temperature.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371600"/>
            <a:ext cx="347472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371600"/>
            <a:ext cx="64008" cy="1691640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2724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Thermal sensitivity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47088"/>
            <a:ext cx="3127248" cy="11430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Temperature affects parameters such as base–emitter voltage and leakage current, shifting collector current.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47472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371600"/>
            <a:ext cx="64008" cy="1691640"/>
          </a:xfrm>
          <a:prstGeom prst="rect">
            <a:avLst/>
          </a:prstGeom>
          <a:solidFill>
            <a:srgbClr val="D5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90472"/>
            <a:ext cx="312724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Why compare biasing?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47088"/>
            <a:ext cx="3127248" cy="11430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A stable operating point helps electronic circuits remain predictable as temperature changes.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900" b="1">
                <a:solidFill>
                  <a:srgbClr val="142744"/>
                </a:solidFill>
                <a:latin typeface="Aptos"/>
              </a:rPr>
              <a:t>Project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10789920" cy="20116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0">
                <a:solidFill>
                  <a:srgbClr val="26303D"/>
                </a:solidFill>
                <a:latin typeface="Aptos"/>
              </a:rPr>
              <a:t>•  Compare fixed-bias and voltage-divider-bias circuits using a nominal 12 V supply.
•  Observe collector-current variation across a simulated temperature sweep.
•  Quantify the current change between 25°C and 80°C.
•  Discuss which bias arrangement provides better temperature stability in this simulation.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44768"/>
            <a:ext cx="10789920" cy="2286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1">
                <a:solidFill>
                  <a:srgbClr val="D57048"/>
                </a:solidFill>
                <a:latin typeface="Aptos"/>
              </a:rPr>
              <a:t>Scope: LTspice simulation only; no physical prototype has been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600" b="1">
                <a:solidFill>
                  <a:srgbClr val="142744"/>
                </a:solidFill>
                <a:latin typeface="Aptos"/>
              </a:rPr>
              <a:t>Thermal Runaway — Feedback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Temperature sensitivity can contribute to instability under some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11109960" cy="32004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0">
                <a:solidFill>
                  <a:srgbClr val="5E6C7C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3317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306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00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2000" b="1">
                <a:solidFill>
                  <a:srgbClr val="3063A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938528"/>
            <a:ext cx="1645920" cy="713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142744"/>
                </a:solidFill>
                <a:latin typeface="Aptos"/>
              </a:rPr>
              <a:t>Temperature rises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53512" y="2395728"/>
            <a:ext cx="429767" cy="0"/>
          </a:xfrm>
          <a:prstGeom prst="line">
            <a:avLst/>
          </a:prstGeom>
          <a:ln w="2540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828800"/>
            <a:ext cx="23317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1B8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965960"/>
            <a:ext cx="3200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2000" b="1">
                <a:solidFill>
                  <a:srgbClr val="1B8B8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1938528"/>
            <a:ext cx="1645920" cy="713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142744"/>
                </a:solidFill>
                <a:latin typeface="Aptos"/>
              </a:rPr>
              <a:t>Collector current may rise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33872" y="2395728"/>
            <a:ext cx="429768" cy="0"/>
          </a:xfrm>
          <a:prstGeom prst="line">
            <a:avLst/>
          </a:prstGeom>
          <a:ln w="2540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828800"/>
            <a:ext cx="23317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57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3200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2000" b="1">
                <a:solidFill>
                  <a:srgbClr val="D57048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1938528"/>
            <a:ext cx="1645920" cy="713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142744"/>
                </a:solidFill>
                <a:latin typeface="Aptos"/>
              </a:rPr>
              <a:t>Power dissipation increases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14232" y="2395728"/>
            <a:ext cx="429768" cy="0"/>
          </a:xfrm>
          <a:prstGeom prst="line">
            <a:avLst/>
          </a:prstGeom>
          <a:ln w="25400">
            <a:solidFill>
              <a:srgbClr val="5E6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35440" y="1828800"/>
            <a:ext cx="23317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306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965960"/>
            <a:ext cx="320040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2000" b="1">
                <a:solidFill>
                  <a:srgbClr val="3063A4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1938528"/>
            <a:ext cx="1645920" cy="7132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300" b="1">
                <a:solidFill>
                  <a:srgbClr val="142744"/>
                </a:solidFill>
                <a:latin typeface="Aptos"/>
              </a:rPr>
              <a:t>Further heating may occur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5257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74720"/>
            <a:ext cx="64008" cy="1417320"/>
          </a:xfrm>
          <a:prstGeom prst="rect">
            <a:avLst/>
          </a:prstGeom>
          <a:solidFill>
            <a:srgbClr val="D5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93591"/>
            <a:ext cx="491032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Relevant 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50208"/>
            <a:ext cx="4910328" cy="8686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Approximate transistor power dissipation: P ≈ VCE × IC. Higher current can increase heating depending on operating conditions.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474720"/>
            <a:ext cx="52578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474720"/>
            <a:ext cx="64008" cy="1417320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593591"/>
            <a:ext cx="491032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Important distinction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950208"/>
            <a:ext cx="4910328" cy="8686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A current rise over a temperature sweep shows temperature sensitivity; it does not by itself prove thermal runaway occurred.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94960"/>
            <a:ext cx="1060704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500" b="1">
                <a:solidFill>
                  <a:srgbClr val="142744"/>
                </a:solidFill>
                <a:latin typeface="Aptos"/>
              </a:rPr>
              <a:t>This project compares how two bias networks respond to temperature.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600" b="1">
                <a:solidFill>
                  <a:srgbClr val="142744"/>
                </a:solidFill>
                <a:latin typeface="Aptos"/>
              </a:rPr>
              <a:t>Circuit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Component values taken from the supplied LTspice schematic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11109960" cy="32004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0">
                <a:solidFill>
                  <a:srgbClr val="5E6C7C"/>
                </a:solidFill>
                <a:latin typeface="Aptos"/>
              </a:rPr>
              <a:t>4</a:t>
            </a:r>
          </a:p>
        </p:txBody>
      </p:sp>
      <p:pic>
        <p:nvPicPr>
          <p:cNvPr id="6" name="Picture 5" descr="a_clean_white_background_technical_diagram_image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1298448"/>
            <a:ext cx="850392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200" b="1">
                <a:solidFill>
                  <a:srgbClr val="142744"/>
                </a:solidFill>
                <a:latin typeface="Aptos"/>
              </a:rPr>
              <a:t>Key difference: the voltage-divider sets the base voltage; RE = 470 Ω provides negative feedback that tends to oppose current increases.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600" b="1">
                <a:solidFill>
                  <a:srgbClr val="142744"/>
                </a:solidFill>
                <a:latin typeface="Aptos"/>
              </a:rPr>
              <a:t>LTspice Simulation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Both circuits were simulated in one file and swept over temperature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11109960" cy="32004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0">
                <a:solidFill>
                  <a:srgbClr val="5E6C7C"/>
                </a:solidFill>
                <a:latin typeface="Aptos"/>
              </a:rPr>
              <a:t>5</a:t>
            </a:r>
          </a:p>
        </p:txBody>
      </p:sp>
      <p:pic>
        <p:nvPicPr>
          <p:cNvPr id="6" name="Picture 5" descr="27a51c2c-557e-4f6e-9259-1f2cb94ce5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68500"/>
            <a:ext cx="7086600" cy="3149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977639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64008" cy="960120"/>
          </a:xfrm>
          <a:prstGeom prst="rect">
            <a:avLst/>
          </a:prstGeom>
          <a:solidFill>
            <a:srgbClr val="30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490472"/>
            <a:ext cx="36301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Software &amp;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1847088"/>
            <a:ext cx="3630168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LTspice • schematic label: 2N2222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4600"/>
            <a:ext cx="3977639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2514600"/>
            <a:ext cx="64008" cy="960120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2633472"/>
            <a:ext cx="36301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Supply voltage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2990088"/>
            <a:ext cx="3630168" cy="411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12 V for each circuit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657600"/>
            <a:ext cx="3977639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3657600"/>
            <a:ext cx="64008" cy="1097280"/>
          </a:xfrm>
          <a:prstGeom prst="rect">
            <a:avLst/>
          </a:prstGeom>
          <a:solidFill>
            <a:srgbClr val="D5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3776472"/>
            <a:ext cx="36301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Temperature sweep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4133087"/>
            <a:ext cx="3630168" cy="5486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.dc temp 25 150 1
25°C to 150°C in 1°C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5074920"/>
            <a:ext cx="3657600" cy="7315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Traces:
I(Rc1) = fixed bias
I(Rc2) = voltage-divider bias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600" b="1">
                <a:solidFill>
                  <a:srgbClr val="142744"/>
                </a:solidFill>
                <a:latin typeface="Aptos"/>
              </a:rPr>
              <a:t>Simulation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Collector current at 25°C and 80°C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11109960" cy="32004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0">
                <a:solidFill>
                  <a:srgbClr val="5E6C7C"/>
                </a:solidFill>
                <a:latin typeface="Aptos"/>
              </a:rPr>
              <a:t>6</a:t>
            </a:r>
          </a:p>
        </p:txBody>
      </p:sp>
      <p:pic>
        <p:nvPicPr>
          <p:cNvPr id="6" name="Picture 5" descr="e25a14a1-d0ae-46c5-978f-71ff572240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63" y="1280160"/>
            <a:ext cx="6236232" cy="28803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60920" y="1417320"/>
          <a:ext cx="4389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43000"/>
                <a:gridCol w="1234440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Parameter</a:t>
                      </a:r>
                    </a:p>
                  </a:txBody>
                  <a:tcPr marL="54864" marR="36576" marT="27432" marB="27432" anchor="ctr"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Fixed bias</a:t>
                      </a:r>
                    </a:p>
                  </a:txBody>
                  <a:tcPr marL="54864" marR="36576" marT="27432" marB="27432" anchor="ctr">
                    <a:solidFill>
                      <a:srgbClr val="14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Voltage-divider</a:t>
                      </a:r>
                    </a:p>
                  </a:txBody>
                  <a:tcPr marL="54864" marR="36576" marT="27432" marB="27432" anchor="ctr">
                    <a:solidFill>
                      <a:srgbClr val="1427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IC at 25°C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9.957 mA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6.0033 mA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IC at 80°C</a:t>
                      </a:r>
                    </a:p>
                  </a:txBody>
                  <a:tcPr marL="54864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11.785 mA</a:t>
                      </a:r>
                    </a:p>
                  </a:txBody>
                  <a:tcPr marL="54864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6.2812 mA</a:t>
                      </a:r>
                    </a:p>
                  </a:txBody>
                  <a:tcPr marL="54864" marR="36576" marT="27432" marB="27432" anchor="ctr">
                    <a:solidFill>
                      <a:srgbClr val="F4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Absolute increase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1.828 mA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0.2779 mA</a:t>
                      </a:r>
                    </a:p>
                  </a:txBody>
                  <a:tcPr marL="54864" marR="3657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Percentage increase</a:t>
                      </a:r>
                    </a:p>
                  </a:txBody>
                  <a:tcPr marL="54864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18.36%</a:t>
                      </a:r>
                    </a:p>
                  </a:txBody>
                  <a:tcPr marL="54864" marR="36576"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6303D"/>
                          </a:solidFill>
                          <a:latin typeface="Aptos"/>
                        </a:defRPr>
                      </a:pPr>
                      <a:r>
                        <a:t>4.63%</a:t>
                      </a:r>
                    </a:p>
                  </a:txBody>
                  <a:tcPr marL="54864" marR="36576"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434840"/>
            <a:ext cx="534924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64008" cy="1097280"/>
          </a:xfrm>
          <a:prstGeom prst="rect">
            <a:avLst/>
          </a:prstGeom>
          <a:solidFill>
            <a:srgbClr val="D5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553712"/>
            <a:ext cx="50017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Fixed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910327"/>
            <a:ext cx="5001768" cy="5486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Current increase: 1.828 mA (18.36%)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4434840"/>
            <a:ext cx="534924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4434840"/>
            <a:ext cx="64008" cy="1097280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4553712"/>
            <a:ext cx="50017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Voltage-divider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4910327"/>
            <a:ext cx="5001768" cy="5486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Current increase: 0.2779 mA (4.63%)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100" b="0">
                <a:solidFill>
                  <a:srgbClr val="5E6C7C"/>
                </a:solidFill>
                <a:latin typeface="Aptos"/>
              </a:rPr>
              <a:t>Percent increase = (IC at 80°C − IC at 25°C) / IC at 25°C ×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600" b="1">
                <a:solidFill>
                  <a:srgbClr val="142744"/>
                </a:solidFill>
                <a:latin typeface="Aptos"/>
              </a:rPr>
              <a:t>Comparison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Voltage-divider bias showed lower current variation in this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11109960" cy="32004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0">
                <a:solidFill>
                  <a:srgbClr val="5E6C7C"/>
                </a:solidFill>
                <a:latin typeface="Aptos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60350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0" y="1554480"/>
            <a:ext cx="46177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554480"/>
            <a:ext cx="64008" cy="1143000"/>
          </a:xfrm>
          <a:prstGeom prst="rect">
            <a:avLst/>
          </a:prstGeom>
          <a:solidFill>
            <a:srgbClr val="D5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673352"/>
            <a:ext cx="427024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Fixed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29967"/>
            <a:ext cx="4270248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18.36% increase from 25°C to 80°C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880360"/>
            <a:ext cx="46177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2880360"/>
            <a:ext cx="64008" cy="1143000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999232"/>
            <a:ext cx="427024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Voltage-divider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355848"/>
            <a:ext cx="4270248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4.63% increase over the same interval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97680"/>
            <a:ext cx="4389120" cy="5486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400" b="1">
                <a:solidFill>
                  <a:srgbClr val="142744"/>
                </a:solidFill>
                <a:latin typeface="Aptos"/>
              </a:rPr>
              <a:t>Fixed-bias percentage increase ≈ 3.96× the voltage-divider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983480"/>
            <a:ext cx="4434840" cy="7772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The emitter resistor provides negative feedback. This supports a relative-stability conclusion, not proof of runaway.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600" b="1">
                <a:solidFill>
                  <a:srgbClr val="142744"/>
                </a:solidFill>
                <a:latin typeface="Aptos"/>
              </a:rPr>
              <a:t>Sustainable Development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Indirect relevance to reliable and responsible electronics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11109960" cy="32004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0">
                <a:solidFill>
                  <a:srgbClr val="5E6C7C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512064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64008" cy="3337560"/>
          </a:xfrm>
          <a:prstGeom prst="rect">
            <a:avLst/>
          </a:prstGeom>
          <a:solidFill>
            <a:srgbClr val="30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47731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SDG 9 — Industry, Innovation and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4773168" cy="2788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The project applies simulation to compare circuit design choices and understand stability in electronic systems. Better-informed design can support reliable engineering.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12064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64008" cy="3337560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81912"/>
            <a:ext cx="47731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SDG 12 — Responsible Consumption and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4773168" cy="2788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Understanding thermal stress and stability can inform component protection and potentially reduce premature failure and electronic waste.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241280" cy="5943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300" b="1">
                <a:solidFill>
                  <a:srgbClr val="D57048"/>
                </a:solidFill>
                <a:latin typeface="Aptos"/>
              </a:rPr>
              <a:t>These are potential, indirect contributions; the project does not directly measure sustainability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600" b="1">
                <a:solidFill>
                  <a:srgbClr val="142744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5E6C7C"/>
                </a:solidFill>
                <a:latin typeface="Aptos"/>
              </a:rPr>
              <a:t>What the simulation supports — and what remains to be 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97280"/>
            <a:ext cx="11109960" cy="32004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6576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/>
            <a:r>
              <a:rPr sz="900" b="0">
                <a:solidFill>
                  <a:srgbClr val="5E6C7C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492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1828800"/>
          </a:xfrm>
          <a:prstGeom prst="rect">
            <a:avLst/>
          </a:prstGeom>
          <a:solidFill>
            <a:srgbClr val="1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490472"/>
            <a:ext cx="50017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5001768" cy="12801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• Fixed bias: 18.36% collector-current increase
• Voltage-divider bias: 4.63% increase
• Voltage-divider bias showed lower current variation over 25–80°C.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4924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64008" cy="1828800"/>
          </a:xfrm>
          <a:prstGeom prst="rect">
            <a:avLst/>
          </a:prstGeom>
          <a:solidFill>
            <a:srgbClr val="D5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90472"/>
            <a:ext cx="5001768" cy="29260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500" b="1">
                <a:solidFill>
                  <a:srgbClr val="142744"/>
                </a:solidFill>
                <a:latin typeface="Aptos"/>
              </a:rPr>
              <a:t>Project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47088"/>
            <a:ext cx="5001768" cy="12801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Simulation only. No physical circuit was assembled, and thermal runaway was not experimentally demonstrated.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900" b="1">
                <a:solidFill>
                  <a:srgbClr val="142744"/>
                </a:solidFill>
                <a:latin typeface="Aptos"/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10698480" cy="1645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600" b="0">
                <a:solidFill>
                  <a:srgbClr val="26303D"/>
                </a:solidFill>
                <a:latin typeface="Aptos"/>
              </a:rPr>
              <a:t>•  Assemble both circuits and measure collector current and transistor temperature.
•  Test additional temperatures and operating conditions.
•  Investigate thermal protection, heatsinking and component limits.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200" b="1">
                <a:solidFill>
                  <a:srgbClr val="142744"/>
                </a:solidFill>
                <a:latin typeface="Aptos"/>
              </a:rPr>
              <a:t>Main takeaway: emitter-resistor feedback improved temperature stability in this simulated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4572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1. onsemi, 2N2222A / PN2222A NPN transistor datasheet. Verify the exact model variant used in LTspice.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01952"/>
            <a:ext cx="1069848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2. Analog Devices, LTspice simulator resources: https://www.analog.com/en/resources/design-tools-and-calculators/ltspice-simulator.html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15184"/>
            <a:ext cx="1069848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3. Sedra, A. S. and Smith, K. C., Microelectronic Circuits, Oxford University Press. BJT biasing and thermal stability theory.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28415"/>
            <a:ext cx="1069848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4. United Nations, Sustainable Development Goals: https://sdgs.un.org/goals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41648"/>
            <a:ext cx="1069848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l"/>
            <a:r>
              <a:rPr sz="1100" b="0">
                <a:solidFill>
                  <a:srgbClr val="E8EFF6"/>
                </a:solidFill>
                <a:latin typeface="Aptos"/>
              </a:rPr>
              <a:t>5. Project data: LTspice schematic, temperature sweep graph and cursor readings supplied by the project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78992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2800" b="1">
                <a:solidFill>
                  <a:srgbClr val="75DACD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0"/>
            <a:ext cx="10789920" cy="1645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ctr"/>
            <a:r>
              <a:rPr sz="900" b="0">
                <a:solidFill>
                  <a:srgbClr val="B8C7D6"/>
                </a:solidFill>
                <a:latin typeface="Aptos"/>
              </a:rPr>
              <a:t>EDC Project • Saintgits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